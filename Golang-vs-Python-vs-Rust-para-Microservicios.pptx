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" TargetMode="Externa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hyperlink" Target="https://gamma.app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3199" y="2084784"/>
            <a:ext cx="7477601" cy="16663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6561"/>
              </a:lnSpc>
              <a:buNone/>
            </a:pPr>
            <a:r>
              <a:rPr lang="en-US" sz="5249" b="1" dirty="0">
                <a:solidFill>
                  <a:srgbClr val="60A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Golang vs Python vs Rust para Microservicios</a:t>
            </a:r>
            <a:endParaRPr lang="en-US" sz="5249" dirty="0"/>
          </a:p>
        </p:txBody>
      </p:sp>
      <p:sp>
        <p:nvSpPr>
          <p:cNvPr id="6" name="Text 3"/>
          <p:cNvSpPr/>
          <p:nvPr/>
        </p:nvSpPr>
        <p:spPr>
          <a:xfrm>
            <a:off x="833199" y="4084439"/>
            <a:ext cx="7477601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el mundo de la arquitectura de microservicios, la elección del lenguaje de programación es crucial. Tres opciones populares son Golang, Python y Rust. Vamos a explorar las fortalezas y debilidades de cada uno en este contexto.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833199" y="5772626"/>
            <a:ext cx="355402" cy="355402"/>
          </a:xfrm>
          <a:prstGeom prst="roundRect">
            <a:avLst>
              <a:gd name="adj" fmla="val 25726039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819" y="5780246"/>
            <a:ext cx="340162" cy="3401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9686" y="5755958"/>
            <a:ext cx="6042660" cy="38885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3062"/>
              </a:lnSpc>
              <a:buNone/>
            </a:pPr>
            <a:r>
              <a:rPr lang="en-US" sz="2187" b="1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by OSWALDO RAFAEL ZAMORA RAMIREZ</a:t>
            </a:r>
            <a:endParaRPr lang="en-US" sz="2187" dirty="0"/>
          </a:p>
        </p:txBody>
      </p:sp>
      <p:pic>
        <p:nvPicPr>
          <p:cNvPr id="10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7774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60220" y="3558302"/>
            <a:ext cx="717804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60A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¿Qué son los microservicios?</a:t>
            </a:r>
            <a:endParaRPr lang="en-US" sz="4374" dirty="0"/>
          </a:p>
        </p:txBody>
      </p:sp>
      <p:sp>
        <p:nvSpPr>
          <p:cNvPr id="6" name="Shape 3"/>
          <p:cNvSpPr/>
          <p:nvPr/>
        </p:nvSpPr>
        <p:spPr>
          <a:xfrm>
            <a:off x="1760220" y="4759523"/>
            <a:ext cx="499943" cy="499943"/>
          </a:xfrm>
          <a:prstGeom prst="roundRect">
            <a:avLst>
              <a:gd name="adj" fmla="val 26667"/>
            </a:avLst>
          </a:prstGeom>
          <a:solidFill>
            <a:srgbClr val="282C32"/>
          </a:solidFill>
          <a:ln/>
        </p:spPr>
      </p:sp>
      <p:sp>
        <p:nvSpPr>
          <p:cNvPr id="7" name="Text 4"/>
          <p:cNvSpPr/>
          <p:nvPr/>
        </p:nvSpPr>
        <p:spPr>
          <a:xfrm>
            <a:off x="1952982" y="4801195"/>
            <a:ext cx="11430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60A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2624" dirty="0"/>
          </a:p>
        </p:txBody>
      </p:sp>
      <p:sp>
        <p:nvSpPr>
          <p:cNvPr id="8" name="Text 5"/>
          <p:cNvSpPr/>
          <p:nvPr/>
        </p:nvSpPr>
        <p:spPr>
          <a:xfrm>
            <a:off x="2482334" y="4835843"/>
            <a:ext cx="236220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60A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Estructura Modular</a:t>
            </a:r>
            <a:endParaRPr lang="en-US" sz="2187" dirty="0"/>
          </a:p>
        </p:txBody>
      </p:sp>
      <p:sp>
        <p:nvSpPr>
          <p:cNvPr id="9" name="Text 6"/>
          <p:cNvSpPr/>
          <p:nvPr/>
        </p:nvSpPr>
        <p:spPr>
          <a:xfrm>
            <a:off x="2482334" y="5316260"/>
            <a:ext cx="2833092" cy="21324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 microservicios se componen de componentes independientes, lo que permite la escalabilidad y la flexibilidad.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5537597" y="4759523"/>
            <a:ext cx="499943" cy="499943"/>
          </a:xfrm>
          <a:prstGeom prst="roundRect">
            <a:avLst>
              <a:gd name="adj" fmla="val 26667"/>
            </a:avLst>
          </a:prstGeom>
          <a:solidFill>
            <a:srgbClr val="282C32"/>
          </a:solidFill>
          <a:ln/>
        </p:spPr>
      </p:sp>
      <p:sp>
        <p:nvSpPr>
          <p:cNvPr id="11" name="Text 8"/>
          <p:cNvSpPr/>
          <p:nvPr/>
        </p:nvSpPr>
        <p:spPr>
          <a:xfrm>
            <a:off x="5696069" y="4801195"/>
            <a:ext cx="18288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60A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2624" dirty="0"/>
          </a:p>
        </p:txBody>
      </p:sp>
      <p:sp>
        <p:nvSpPr>
          <p:cNvPr id="12" name="Text 9"/>
          <p:cNvSpPr/>
          <p:nvPr/>
        </p:nvSpPr>
        <p:spPr>
          <a:xfrm>
            <a:off x="6259711" y="4835843"/>
            <a:ext cx="2833092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60A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Despliegue Independiente</a:t>
            </a:r>
            <a:endParaRPr lang="en-US" sz="2187" dirty="0"/>
          </a:p>
        </p:txBody>
      </p:sp>
      <p:sp>
        <p:nvSpPr>
          <p:cNvPr id="13" name="Text 10"/>
          <p:cNvSpPr/>
          <p:nvPr/>
        </p:nvSpPr>
        <p:spPr>
          <a:xfrm>
            <a:off x="6259711" y="5663446"/>
            <a:ext cx="2833092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microservicio puede ser implementado, actualizado y escalado de forma independiente.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9314974" y="4759523"/>
            <a:ext cx="499943" cy="499943"/>
          </a:xfrm>
          <a:prstGeom prst="roundRect">
            <a:avLst>
              <a:gd name="adj" fmla="val 26667"/>
            </a:avLst>
          </a:prstGeom>
          <a:solidFill>
            <a:srgbClr val="282C32"/>
          </a:solidFill>
          <a:ln/>
        </p:spPr>
      </p:sp>
      <p:sp>
        <p:nvSpPr>
          <p:cNvPr id="15" name="Text 12"/>
          <p:cNvSpPr/>
          <p:nvPr/>
        </p:nvSpPr>
        <p:spPr>
          <a:xfrm>
            <a:off x="9473446" y="4801195"/>
            <a:ext cx="18288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60A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2624" dirty="0"/>
          </a:p>
        </p:txBody>
      </p:sp>
      <p:sp>
        <p:nvSpPr>
          <p:cNvPr id="16" name="Text 13"/>
          <p:cNvSpPr/>
          <p:nvPr/>
        </p:nvSpPr>
        <p:spPr>
          <a:xfrm>
            <a:off x="10037088" y="4835843"/>
            <a:ext cx="240030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60A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Resistencia a Fallos</a:t>
            </a:r>
            <a:endParaRPr lang="en-US" sz="2187" dirty="0"/>
          </a:p>
        </p:txBody>
      </p:sp>
      <p:sp>
        <p:nvSpPr>
          <p:cNvPr id="17" name="Text 14"/>
          <p:cNvSpPr/>
          <p:nvPr/>
        </p:nvSpPr>
        <p:spPr>
          <a:xfrm>
            <a:off x="10037088" y="5316260"/>
            <a:ext cx="2833092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 microservicios aíslan los fallos, evitando que un problema en un servicio afecte a toda la aplicación.</a:t>
            </a:r>
            <a:endParaRPr lang="en-US" sz="1750" dirty="0"/>
          </a:p>
        </p:txBody>
      </p:sp>
      <p:pic>
        <p:nvPicPr>
          <p:cNvPr id="18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0"/>
            <a:ext cx="36576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3199" y="2427803"/>
            <a:ext cx="666750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60A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Golang para Microservicios</a:t>
            </a:r>
            <a:endParaRPr lang="en-US" sz="4374" dirty="0"/>
          </a:p>
        </p:txBody>
      </p:sp>
      <p:sp>
        <p:nvSpPr>
          <p:cNvPr id="6" name="Shape 3"/>
          <p:cNvSpPr/>
          <p:nvPr/>
        </p:nvSpPr>
        <p:spPr>
          <a:xfrm>
            <a:off x="833199" y="3455432"/>
            <a:ext cx="4542115" cy="2346365"/>
          </a:xfrm>
          <a:prstGeom prst="roundRect">
            <a:avLst>
              <a:gd name="adj" fmla="val 5682"/>
            </a:avLst>
          </a:prstGeom>
          <a:solidFill>
            <a:srgbClr val="282C32"/>
          </a:solidFill>
          <a:ln/>
        </p:spPr>
      </p:sp>
      <p:sp>
        <p:nvSpPr>
          <p:cNvPr id="7" name="Text 4"/>
          <p:cNvSpPr/>
          <p:nvPr/>
        </p:nvSpPr>
        <p:spPr>
          <a:xfrm>
            <a:off x="1055370" y="3677603"/>
            <a:ext cx="284988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60A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Velocidad de Ejecución</a:t>
            </a:r>
            <a:endParaRPr lang="en-US" sz="2187" dirty="0"/>
          </a:p>
        </p:txBody>
      </p:sp>
      <p:sp>
        <p:nvSpPr>
          <p:cNvPr id="8" name="Text 5"/>
          <p:cNvSpPr/>
          <p:nvPr/>
        </p:nvSpPr>
        <p:spPr>
          <a:xfrm>
            <a:off x="1055370" y="4158020"/>
            <a:ext cx="4097774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Golang es conocido por su alta velocidad de ejecución, lo que lo hace ideal para aplicaciones de alto rendimiento.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597485" y="3455432"/>
            <a:ext cx="4542115" cy="2346365"/>
          </a:xfrm>
          <a:prstGeom prst="roundRect">
            <a:avLst>
              <a:gd name="adj" fmla="val 5682"/>
            </a:avLst>
          </a:prstGeom>
          <a:solidFill>
            <a:srgbClr val="282C32"/>
          </a:solidFill>
          <a:ln/>
        </p:spPr>
      </p:sp>
      <p:sp>
        <p:nvSpPr>
          <p:cNvPr id="10" name="Text 7"/>
          <p:cNvSpPr/>
          <p:nvPr/>
        </p:nvSpPr>
        <p:spPr>
          <a:xfrm>
            <a:off x="5819656" y="3677603"/>
            <a:ext cx="249936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60A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Concurrencia Nativa</a:t>
            </a:r>
            <a:endParaRPr lang="en-US" sz="2187" dirty="0"/>
          </a:p>
        </p:txBody>
      </p:sp>
      <p:sp>
        <p:nvSpPr>
          <p:cNvPr id="11" name="Text 8"/>
          <p:cNvSpPr/>
          <p:nvPr/>
        </p:nvSpPr>
        <p:spPr>
          <a:xfrm>
            <a:off x="5819656" y="4158020"/>
            <a:ext cx="4097774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sistema de concurrencia de Golang permite la ejecución simultánea de múltiples tareas, mejorando la eficiencia.</a:t>
            </a:r>
            <a:endParaRPr lang="en-US" sz="1750" dirty="0"/>
          </a:p>
        </p:txBody>
      </p:sp>
      <p:pic>
        <p:nvPicPr>
          <p:cNvPr id="12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4" name="Text 2"/>
          <p:cNvSpPr/>
          <p:nvPr/>
        </p:nvSpPr>
        <p:spPr>
          <a:xfrm>
            <a:off x="1760220" y="2572107"/>
            <a:ext cx="91516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60A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Ventajas de Golang en Microservicios</a:t>
            </a:r>
            <a:endParaRPr lang="en-US" sz="4374" dirty="0"/>
          </a:p>
        </p:txBody>
      </p:sp>
      <p:sp>
        <p:nvSpPr>
          <p:cNvPr id="5" name="Text 3"/>
          <p:cNvSpPr/>
          <p:nvPr/>
        </p:nvSpPr>
        <p:spPr>
          <a:xfrm>
            <a:off x="1760220" y="3821906"/>
            <a:ext cx="222194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60A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Escalabilidad</a:t>
            </a:r>
            <a:endParaRPr lang="en-US" sz="2187" dirty="0"/>
          </a:p>
        </p:txBody>
      </p:sp>
      <p:sp>
        <p:nvSpPr>
          <p:cNvPr id="6" name="Text 4"/>
          <p:cNvSpPr/>
          <p:nvPr/>
        </p:nvSpPr>
        <p:spPr>
          <a:xfrm>
            <a:off x="1760220" y="4391263"/>
            <a:ext cx="5283994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Golang brinda facilidades para crear sistemas altamente escalables y de alto rendimiento.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3806" y="3821906"/>
            <a:ext cx="336042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60A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Facilidad de Mantenimiento</a:t>
            </a:r>
            <a:endParaRPr lang="en-US" sz="2187" dirty="0"/>
          </a:p>
        </p:txBody>
      </p:sp>
      <p:sp>
        <p:nvSpPr>
          <p:cNvPr id="8" name="Text 6"/>
          <p:cNvSpPr/>
          <p:nvPr/>
        </p:nvSpPr>
        <p:spPr>
          <a:xfrm>
            <a:off x="7593806" y="4391263"/>
            <a:ext cx="5283994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simplicidad del código de Golang y su rápida compilación facilitan el mantenimiento y las actualizaciones.</a:t>
            </a:r>
            <a:endParaRPr lang="en-US" sz="1750" dirty="0"/>
          </a:p>
        </p:txBody>
      </p:sp>
      <p:pic>
        <p:nvPicPr>
          <p:cNvPr id="9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576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90799" y="2427803"/>
            <a:ext cx="672084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60A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Python para Microservicios</a:t>
            </a:r>
            <a:endParaRPr lang="en-US" sz="4374" dirty="0"/>
          </a:p>
        </p:txBody>
      </p:sp>
      <p:sp>
        <p:nvSpPr>
          <p:cNvPr id="6" name="Shape 3"/>
          <p:cNvSpPr/>
          <p:nvPr/>
        </p:nvSpPr>
        <p:spPr>
          <a:xfrm>
            <a:off x="4490799" y="3455432"/>
            <a:ext cx="4542115" cy="2346365"/>
          </a:xfrm>
          <a:prstGeom prst="roundRect">
            <a:avLst>
              <a:gd name="adj" fmla="val 5682"/>
            </a:avLst>
          </a:prstGeom>
          <a:solidFill>
            <a:srgbClr val="282C32"/>
          </a:solidFill>
          <a:ln/>
        </p:spPr>
      </p:sp>
      <p:sp>
        <p:nvSpPr>
          <p:cNvPr id="7" name="Text 4"/>
          <p:cNvSpPr/>
          <p:nvPr/>
        </p:nvSpPr>
        <p:spPr>
          <a:xfrm>
            <a:off x="4712970" y="3677603"/>
            <a:ext cx="222194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60A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Desarrollo Rápido</a:t>
            </a:r>
            <a:endParaRPr lang="en-US" sz="2187" dirty="0"/>
          </a:p>
        </p:txBody>
      </p:sp>
      <p:sp>
        <p:nvSpPr>
          <p:cNvPr id="8" name="Text 5"/>
          <p:cNvSpPr/>
          <p:nvPr/>
        </p:nvSpPr>
        <p:spPr>
          <a:xfrm>
            <a:off x="4712970" y="4158020"/>
            <a:ext cx="4097774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es conocido por su sintaxis clara y su facilidad de uso, lo que acelera el desarrollo de aplicaciones.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9255085" y="3455432"/>
            <a:ext cx="4542115" cy="2346365"/>
          </a:xfrm>
          <a:prstGeom prst="roundRect">
            <a:avLst>
              <a:gd name="adj" fmla="val 5682"/>
            </a:avLst>
          </a:prstGeom>
          <a:solidFill>
            <a:srgbClr val="282C32"/>
          </a:solidFill>
          <a:ln/>
        </p:spPr>
      </p:sp>
      <p:sp>
        <p:nvSpPr>
          <p:cNvPr id="10" name="Text 7"/>
          <p:cNvSpPr/>
          <p:nvPr/>
        </p:nvSpPr>
        <p:spPr>
          <a:xfrm>
            <a:off x="9477256" y="3677603"/>
            <a:ext cx="331470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60A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Amplia Biblioteca Estándar</a:t>
            </a:r>
            <a:endParaRPr lang="en-US" sz="2187" dirty="0"/>
          </a:p>
        </p:txBody>
      </p:sp>
      <p:sp>
        <p:nvSpPr>
          <p:cNvPr id="11" name="Text 8"/>
          <p:cNvSpPr/>
          <p:nvPr/>
        </p:nvSpPr>
        <p:spPr>
          <a:xfrm>
            <a:off x="9477256" y="4158020"/>
            <a:ext cx="4097774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vasta colección de módulos y bibliotecas de Python facilita el desarrollo de microservicios complejos.</a:t>
            </a:r>
            <a:endParaRPr lang="en-US" sz="1750" dirty="0"/>
          </a:p>
        </p:txBody>
      </p:sp>
      <p:pic>
        <p:nvPicPr>
          <p:cNvPr id="12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0"/>
            <a:ext cx="36576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3199" y="2524958"/>
            <a:ext cx="920496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60A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Ventajas de Python en Microservicios</a:t>
            </a:r>
            <a:endParaRPr lang="en-US" sz="4374" dirty="0"/>
          </a:p>
        </p:txBody>
      </p:sp>
      <p:sp>
        <p:nvSpPr>
          <p:cNvPr id="6" name="Shape 3"/>
          <p:cNvSpPr/>
          <p:nvPr/>
        </p:nvSpPr>
        <p:spPr>
          <a:xfrm>
            <a:off x="833199" y="3726180"/>
            <a:ext cx="499943" cy="499943"/>
          </a:xfrm>
          <a:prstGeom prst="roundRect">
            <a:avLst>
              <a:gd name="adj" fmla="val 26667"/>
            </a:avLst>
          </a:prstGeom>
          <a:solidFill>
            <a:srgbClr val="282C32"/>
          </a:solidFill>
          <a:ln/>
        </p:spPr>
      </p:sp>
      <p:sp>
        <p:nvSpPr>
          <p:cNvPr id="7" name="Text 4"/>
          <p:cNvSpPr/>
          <p:nvPr/>
        </p:nvSpPr>
        <p:spPr>
          <a:xfrm>
            <a:off x="1025962" y="3767852"/>
            <a:ext cx="11430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60A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2624" dirty="0"/>
          </a:p>
        </p:txBody>
      </p:sp>
      <p:sp>
        <p:nvSpPr>
          <p:cNvPr id="8" name="Text 5"/>
          <p:cNvSpPr/>
          <p:nvPr/>
        </p:nvSpPr>
        <p:spPr>
          <a:xfrm>
            <a:off x="1555313" y="3802499"/>
            <a:ext cx="222194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60A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Flexibilidad</a:t>
            </a:r>
            <a:endParaRPr lang="en-US" sz="2187" dirty="0"/>
          </a:p>
        </p:txBody>
      </p:sp>
      <p:sp>
        <p:nvSpPr>
          <p:cNvPr id="9" name="Text 6"/>
          <p:cNvSpPr/>
          <p:nvPr/>
        </p:nvSpPr>
        <p:spPr>
          <a:xfrm>
            <a:off x="1555313" y="4282916"/>
            <a:ext cx="3820001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ofrece flexibilidad y facilidad de integración con otros sistemas, lo que lo hace ideal para microservicios.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5597485" y="3726180"/>
            <a:ext cx="499943" cy="499943"/>
          </a:xfrm>
          <a:prstGeom prst="roundRect">
            <a:avLst>
              <a:gd name="adj" fmla="val 26667"/>
            </a:avLst>
          </a:prstGeom>
          <a:solidFill>
            <a:srgbClr val="282C32"/>
          </a:solidFill>
          <a:ln/>
        </p:spPr>
      </p:sp>
      <p:sp>
        <p:nvSpPr>
          <p:cNvPr id="11" name="Text 8"/>
          <p:cNvSpPr/>
          <p:nvPr/>
        </p:nvSpPr>
        <p:spPr>
          <a:xfrm>
            <a:off x="5755957" y="3767852"/>
            <a:ext cx="18288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60A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2624" dirty="0"/>
          </a:p>
        </p:txBody>
      </p:sp>
      <p:sp>
        <p:nvSpPr>
          <p:cNvPr id="12" name="Text 9"/>
          <p:cNvSpPr/>
          <p:nvPr/>
        </p:nvSpPr>
        <p:spPr>
          <a:xfrm>
            <a:off x="6319599" y="3802499"/>
            <a:ext cx="236982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60A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Prototipado Rápido</a:t>
            </a:r>
            <a:endParaRPr lang="en-US" sz="2187" dirty="0"/>
          </a:p>
        </p:txBody>
      </p:sp>
      <p:sp>
        <p:nvSpPr>
          <p:cNvPr id="13" name="Text 10"/>
          <p:cNvSpPr/>
          <p:nvPr/>
        </p:nvSpPr>
        <p:spPr>
          <a:xfrm>
            <a:off x="6319599" y="4282916"/>
            <a:ext cx="38200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lenguaje permite desarrollar prototipos de microservicios de manera eficiente y rápida.</a:t>
            </a:r>
            <a:endParaRPr lang="en-US" sz="1750" dirty="0"/>
          </a:p>
        </p:txBody>
      </p:sp>
      <p:pic>
        <p:nvPicPr>
          <p:cNvPr id="1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2022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910364" y="2687003"/>
            <a:ext cx="4838700" cy="55066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4335"/>
              </a:lnSpc>
              <a:buNone/>
            </a:pPr>
            <a:r>
              <a:rPr lang="en-US" sz="3468" b="1" dirty="0">
                <a:solidFill>
                  <a:srgbClr val="60A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Rust para Microservicios</a:t>
            </a:r>
            <a:endParaRPr lang="en-US" sz="3468" dirty="0"/>
          </a:p>
        </p:txBody>
      </p:sp>
      <p:sp>
        <p:nvSpPr>
          <p:cNvPr id="6" name="Shape 3"/>
          <p:cNvSpPr/>
          <p:nvPr/>
        </p:nvSpPr>
        <p:spPr>
          <a:xfrm>
            <a:off x="3135035" y="3501866"/>
            <a:ext cx="79177" cy="4243030"/>
          </a:xfrm>
          <a:prstGeom prst="roundRect">
            <a:avLst>
              <a:gd name="adj" fmla="val 133518"/>
            </a:avLst>
          </a:prstGeom>
          <a:solidFill>
            <a:srgbClr val="282C32"/>
          </a:solidFill>
          <a:ln/>
        </p:spPr>
      </p:sp>
      <p:sp>
        <p:nvSpPr>
          <p:cNvPr id="7" name="Shape 4"/>
          <p:cNvSpPr/>
          <p:nvPr/>
        </p:nvSpPr>
        <p:spPr>
          <a:xfrm>
            <a:off x="3372743" y="3798034"/>
            <a:ext cx="616625" cy="79177"/>
          </a:xfrm>
          <a:prstGeom prst="roundRect">
            <a:avLst>
              <a:gd name="adj" fmla="val 133518"/>
            </a:avLst>
          </a:prstGeom>
          <a:solidFill>
            <a:srgbClr val="282C32"/>
          </a:solidFill>
          <a:ln/>
        </p:spPr>
      </p:sp>
      <p:sp>
        <p:nvSpPr>
          <p:cNvPr id="8" name="Shape 5"/>
          <p:cNvSpPr/>
          <p:nvPr/>
        </p:nvSpPr>
        <p:spPr>
          <a:xfrm>
            <a:off x="2976384" y="3639503"/>
            <a:ext cx="396359" cy="396359"/>
          </a:xfrm>
          <a:prstGeom prst="roundRect">
            <a:avLst>
              <a:gd name="adj" fmla="val 26672"/>
            </a:avLst>
          </a:prstGeom>
          <a:solidFill>
            <a:srgbClr val="282C32"/>
          </a:solidFill>
          <a:ln/>
        </p:spPr>
      </p:sp>
      <p:sp>
        <p:nvSpPr>
          <p:cNvPr id="9" name="Text 6"/>
          <p:cNvSpPr/>
          <p:nvPr/>
        </p:nvSpPr>
        <p:spPr>
          <a:xfrm>
            <a:off x="3128784" y="3672483"/>
            <a:ext cx="91440" cy="33039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601"/>
              </a:lnSpc>
              <a:buNone/>
            </a:pPr>
            <a:r>
              <a:rPr lang="en-US" sz="2081" b="1" dirty="0">
                <a:solidFill>
                  <a:srgbClr val="60A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2081" dirty="0"/>
          </a:p>
        </p:txBody>
      </p:sp>
      <p:sp>
        <p:nvSpPr>
          <p:cNvPr id="10" name="Text 7"/>
          <p:cNvSpPr/>
          <p:nvPr/>
        </p:nvSpPr>
        <p:spPr>
          <a:xfrm>
            <a:off x="4143613" y="3677960"/>
            <a:ext cx="1761887" cy="2752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168"/>
              </a:lnSpc>
              <a:buNone/>
            </a:pPr>
            <a:r>
              <a:rPr lang="en-US" sz="1734" b="1" dirty="0">
                <a:solidFill>
                  <a:srgbClr val="60A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Seguridad</a:t>
            </a:r>
            <a:endParaRPr lang="en-US" sz="1734" dirty="0"/>
          </a:p>
        </p:txBody>
      </p:sp>
      <p:sp>
        <p:nvSpPr>
          <p:cNvPr id="11" name="Text 8"/>
          <p:cNvSpPr/>
          <p:nvPr/>
        </p:nvSpPr>
        <p:spPr>
          <a:xfrm>
            <a:off x="4143613" y="4058841"/>
            <a:ext cx="7576304" cy="563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387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Rust garantiza la seguridad del sistema y previene errores comunes en el desarrollo de microservicios.</a:t>
            </a:r>
            <a:endParaRPr lang="en-US" sz="1387" dirty="0"/>
          </a:p>
        </p:txBody>
      </p:sp>
      <p:sp>
        <p:nvSpPr>
          <p:cNvPr id="12" name="Shape 9"/>
          <p:cNvSpPr/>
          <p:nvPr/>
        </p:nvSpPr>
        <p:spPr>
          <a:xfrm>
            <a:off x="3372743" y="5271075"/>
            <a:ext cx="616625" cy="79177"/>
          </a:xfrm>
          <a:prstGeom prst="roundRect">
            <a:avLst>
              <a:gd name="adj" fmla="val 133518"/>
            </a:avLst>
          </a:prstGeom>
          <a:solidFill>
            <a:srgbClr val="282C32"/>
          </a:solidFill>
          <a:ln/>
        </p:spPr>
      </p:sp>
      <p:sp>
        <p:nvSpPr>
          <p:cNvPr id="13" name="Shape 10"/>
          <p:cNvSpPr/>
          <p:nvPr/>
        </p:nvSpPr>
        <p:spPr>
          <a:xfrm>
            <a:off x="2976384" y="5112544"/>
            <a:ext cx="396359" cy="396359"/>
          </a:xfrm>
          <a:prstGeom prst="roundRect">
            <a:avLst>
              <a:gd name="adj" fmla="val 26672"/>
            </a:avLst>
          </a:prstGeom>
          <a:solidFill>
            <a:srgbClr val="282C32"/>
          </a:solidFill>
          <a:ln/>
        </p:spPr>
      </p:sp>
      <p:sp>
        <p:nvSpPr>
          <p:cNvPr id="14" name="Text 11"/>
          <p:cNvSpPr/>
          <p:nvPr/>
        </p:nvSpPr>
        <p:spPr>
          <a:xfrm>
            <a:off x="3102114" y="5145524"/>
            <a:ext cx="144780" cy="33039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601"/>
              </a:lnSpc>
              <a:buNone/>
            </a:pPr>
            <a:r>
              <a:rPr lang="en-US" sz="2081" b="1" dirty="0">
                <a:solidFill>
                  <a:srgbClr val="60A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2081" dirty="0"/>
          </a:p>
        </p:txBody>
      </p:sp>
      <p:sp>
        <p:nvSpPr>
          <p:cNvPr id="15" name="Text 12"/>
          <p:cNvSpPr/>
          <p:nvPr/>
        </p:nvSpPr>
        <p:spPr>
          <a:xfrm>
            <a:off x="4143613" y="5151001"/>
            <a:ext cx="1761887" cy="2752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168"/>
              </a:lnSpc>
              <a:buNone/>
            </a:pPr>
            <a:r>
              <a:rPr lang="en-US" sz="1734" b="1" dirty="0">
                <a:solidFill>
                  <a:srgbClr val="60A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Alto Rendimiento</a:t>
            </a:r>
            <a:endParaRPr lang="en-US" sz="1734" dirty="0"/>
          </a:p>
        </p:txBody>
      </p:sp>
      <p:sp>
        <p:nvSpPr>
          <p:cNvPr id="16" name="Text 13"/>
          <p:cNvSpPr/>
          <p:nvPr/>
        </p:nvSpPr>
        <p:spPr>
          <a:xfrm>
            <a:off x="4143613" y="5531882"/>
            <a:ext cx="7576304" cy="563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387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rendimiento optimizado y predecible de Rust lo hace adecuado para microservicios que requieren eficiencia.</a:t>
            </a:r>
            <a:endParaRPr lang="en-US" sz="1387" dirty="0"/>
          </a:p>
        </p:txBody>
      </p:sp>
      <p:sp>
        <p:nvSpPr>
          <p:cNvPr id="17" name="Shape 14"/>
          <p:cNvSpPr/>
          <p:nvPr/>
        </p:nvSpPr>
        <p:spPr>
          <a:xfrm>
            <a:off x="3372743" y="6744117"/>
            <a:ext cx="616625" cy="79177"/>
          </a:xfrm>
          <a:prstGeom prst="roundRect">
            <a:avLst>
              <a:gd name="adj" fmla="val 133518"/>
            </a:avLst>
          </a:prstGeom>
          <a:solidFill>
            <a:srgbClr val="282C32"/>
          </a:solidFill>
          <a:ln/>
        </p:spPr>
      </p:sp>
      <p:sp>
        <p:nvSpPr>
          <p:cNvPr id="18" name="Shape 15"/>
          <p:cNvSpPr/>
          <p:nvPr/>
        </p:nvSpPr>
        <p:spPr>
          <a:xfrm>
            <a:off x="2976384" y="6585585"/>
            <a:ext cx="396359" cy="396359"/>
          </a:xfrm>
          <a:prstGeom prst="roundRect">
            <a:avLst>
              <a:gd name="adj" fmla="val 26672"/>
            </a:avLst>
          </a:prstGeom>
          <a:solidFill>
            <a:srgbClr val="282C32"/>
          </a:solidFill>
          <a:ln/>
        </p:spPr>
      </p:sp>
      <p:sp>
        <p:nvSpPr>
          <p:cNvPr id="19" name="Text 16"/>
          <p:cNvSpPr/>
          <p:nvPr/>
        </p:nvSpPr>
        <p:spPr>
          <a:xfrm>
            <a:off x="3102114" y="6618565"/>
            <a:ext cx="144780" cy="33039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601"/>
              </a:lnSpc>
              <a:buNone/>
            </a:pPr>
            <a:r>
              <a:rPr lang="en-US" sz="2081" b="1" dirty="0">
                <a:solidFill>
                  <a:srgbClr val="60A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2081" dirty="0"/>
          </a:p>
        </p:txBody>
      </p:sp>
      <p:sp>
        <p:nvSpPr>
          <p:cNvPr id="20" name="Text 17"/>
          <p:cNvSpPr/>
          <p:nvPr/>
        </p:nvSpPr>
        <p:spPr>
          <a:xfrm>
            <a:off x="4143613" y="6624042"/>
            <a:ext cx="2766060" cy="2752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168"/>
              </a:lnSpc>
              <a:buNone/>
            </a:pPr>
            <a:r>
              <a:rPr lang="en-US" sz="1734" b="1" dirty="0">
                <a:solidFill>
                  <a:srgbClr val="60A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Concurrencia Sin Problemas</a:t>
            </a:r>
            <a:endParaRPr lang="en-US" sz="1734" dirty="0"/>
          </a:p>
        </p:txBody>
      </p:sp>
      <p:sp>
        <p:nvSpPr>
          <p:cNvPr id="21" name="Text 18"/>
          <p:cNvSpPr/>
          <p:nvPr/>
        </p:nvSpPr>
        <p:spPr>
          <a:xfrm>
            <a:off x="4143613" y="7004923"/>
            <a:ext cx="7576304" cy="563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387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facilidad para trabajar con concurrencia en Rust lo hace ideal para aplicaciones concurrentes y distribuidas.</a:t>
            </a:r>
            <a:endParaRPr lang="en-US" sz="1387" dirty="0"/>
          </a:p>
        </p:txBody>
      </p:sp>
      <p:pic>
        <p:nvPicPr>
          <p:cNvPr id="22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0"/>
            <a:ext cx="36576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3199" y="2427803"/>
            <a:ext cx="859536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60A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Ventajas de Rust en Microservicios</a:t>
            </a:r>
            <a:endParaRPr lang="en-US" sz="4374" dirty="0"/>
          </a:p>
        </p:txBody>
      </p:sp>
      <p:sp>
        <p:nvSpPr>
          <p:cNvPr id="6" name="Shape 3"/>
          <p:cNvSpPr/>
          <p:nvPr/>
        </p:nvSpPr>
        <p:spPr>
          <a:xfrm>
            <a:off x="833199" y="3455432"/>
            <a:ext cx="4542115" cy="2346365"/>
          </a:xfrm>
          <a:prstGeom prst="roundRect">
            <a:avLst>
              <a:gd name="adj" fmla="val 5682"/>
            </a:avLst>
          </a:prstGeom>
          <a:solidFill>
            <a:srgbClr val="282C32"/>
          </a:solidFill>
          <a:ln/>
        </p:spPr>
      </p:sp>
      <p:sp>
        <p:nvSpPr>
          <p:cNvPr id="7" name="Text 4"/>
          <p:cNvSpPr/>
          <p:nvPr/>
        </p:nvSpPr>
        <p:spPr>
          <a:xfrm>
            <a:off x="1055370" y="3677603"/>
            <a:ext cx="222194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60A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Confiabilidad</a:t>
            </a:r>
            <a:endParaRPr lang="en-US" sz="2187" dirty="0"/>
          </a:p>
        </p:txBody>
      </p:sp>
      <p:sp>
        <p:nvSpPr>
          <p:cNvPr id="8" name="Text 5"/>
          <p:cNvSpPr/>
          <p:nvPr/>
        </p:nvSpPr>
        <p:spPr>
          <a:xfrm>
            <a:off x="1055370" y="4158020"/>
            <a:ext cx="4097774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Rust ofrece herramientas que reducen el riesgo de errores y aumentan la fiabilidad de los microservicios.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597485" y="3455432"/>
            <a:ext cx="4542115" cy="2346365"/>
          </a:xfrm>
          <a:prstGeom prst="roundRect">
            <a:avLst>
              <a:gd name="adj" fmla="val 5682"/>
            </a:avLst>
          </a:prstGeom>
          <a:solidFill>
            <a:srgbClr val="282C32"/>
          </a:solidFill>
          <a:ln/>
        </p:spPr>
      </p:sp>
      <p:sp>
        <p:nvSpPr>
          <p:cNvPr id="10" name="Text 7"/>
          <p:cNvSpPr/>
          <p:nvPr/>
        </p:nvSpPr>
        <p:spPr>
          <a:xfrm>
            <a:off x="5819656" y="3677603"/>
            <a:ext cx="318516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60A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Optimización de Recursos</a:t>
            </a:r>
            <a:endParaRPr lang="en-US" sz="2187" dirty="0"/>
          </a:p>
        </p:txBody>
      </p:sp>
      <p:sp>
        <p:nvSpPr>
          <p:cNvPr id="11" name="Text 8"/>
          <p:cNvSpPr/>
          <p:nvPr/>
        </p:nvSpPr>
        <p:spPr>
          <a:xfrm>
            <a:off x="5819656" y="4158020"/>
            <a:ext cx="4097774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control granular de la memoria y la ausencia de recolección de basura hacen que Rust sea eficiente en el uso de recursos.</a:t>
            </a:r>
            <a:endParaRPr lang="en-US" sz="1750" dirty="0"/>
          </a:p>
        </p:txBody>
      </p:sp>
      <p:pic>
        <p:nvPicPr>
          <p:cNvPr id="12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30791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0"/>
            <a:ext cx="3657600" cy="82307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8556" y="607576"/>
            <a:ext cx="9315688" cy="13811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5437"/>
              </a:lnSpc>
              <a:buNone/>
            </a:pPr>
            <a:r>
              <a:rPr lang="en-US" sz="4350" b="1" dirty="0">
                <a:solidFill>
                  <a:srgbClr val="60A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Comparación entre Golang, Python y Rust en Microservicios</a:t>
            </a:r>
            <a:endParaRPr lang="en-US" sz="4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556" y="2320052"/>
            <a:ext cx="1104781" cy="176772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64688" y="2540913"/>
            <a:ext cx="2209681" cy="3452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19"/>
              </a:lnSpc>
              <a:buNone/>
            </a:pPr>
            <a:r>
              <a:rPr lang="en-US" sz="2175" b="1" dirty="0">
                <a:solidFill>
                  <a:srgbClr val="60A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Velocidad</a:t>
            </a:r>
            <a:endParaRPr lang="en-US" sz="2175" dirty="0"/>
          </a:p>
        </p:txBody>
      </p:sp>
      <p:sp>
        <p:nvSpPr>
          <p:cNvPr id="8" name="Text 4"/>
          <p:cNvSpPr/>
          <p:nvPr/>
        </p:nvSpPr>
        <p:spPr>
          <a:xfrm>
            <a:off x="2264688" y="3018711"/>
            <a:ext cx="7879556" cy="7069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784"/>
              </a:lnSpc>
              <a:buNone/>
            </a:pPr>
            <a:r>
              <a:rPr lang="en-US" sz="174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Golang es conocido por ser más rápido en términos de ejecución que Python y Rust.</a:t>
            </a:r>
            <a:endParaRPr lang="en-US" sz="174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556" y="4087773"/>
            <a:ext cx="1104781" cy="176772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264688" y="4308634"/>
            <a:ext cx="2209681" cy="3452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19"/>
              </a:lnSpc>
              <a:buNone/>
            </a:pPr>
            <a:r>
              <a:rPr lang="en-US" sz="2175" b="1" dirty="0">
                <a:solidFill>
                  <a:srgbClr val="60A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Simplicidad</a:t>
            </a:r>
            <a:endParaRPr lang="en-US" sz="2175" dirty="0"/>
          </a:p>
        </p:txBody>
      </p:sp>
      <p:sp>
        <p:nvSpPr>
          <p:cNvPr id="11" name="Text 6"/>
          <p:cNvSpPr/>
          <p:nvPr/>
        </p:nvSpPr>
        <p:spPr>
          <a:xfrm>
            <a:off x="2264688" y="4786432"/>
            <a:ext cx="7879556" cy="7069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784"/>
              </a:lnSpc>
              <a:buNone/>
            </a:pPr>
            <a:r>
              <a:rPr lang="en-US" sz="174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estructura clara y concisa de Golang es preferible para proyectos que requieren menos complejidad.</a:t>
            </a:r>
            <a:endParaRPr lang="en-US" sz="174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556" y="5855494"/>
            <a:ext cx="1104781" cy="176772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264688" y="6076355"/>
            <a:ext cx="2209681" cy="3452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19"/>
              </a:lnSpc>
              <a:buNone/>
            </a:pPr>
            <a:r>
              <a:rPr lang="en-US" sz="2175" b="1" dirty="0">
                <a:solidFill>
                  <a:srgbClr val="60A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Seguridad</a:t>
            </a:r>
            <a:endParaRPr lang="en-US" sz="2175" dirty="0"/>
          </a:p>
        </p:txBody>
      </p:sp>
      <p:sp>
        <p:nvSpPr>
          <p:cNvPr id="14" name="Text 8"/>
          <p:cNvSpPr/>
          <p:nvPr/>
        </p:nvSpPr>
        <p:spPr>
          <a:xfrm>
            <a:off x="2264688" y="6554153"/>
            <a:ext cx="7879556" cy="7069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784"/>
              </a:lnSpc>
              <a:buNone/>
            </a:pPr>
            <a:r>
              <a:rPr lang="en-US" sz="174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Rust destaca por su énfasis en la seguridad y la prevención de errores de programación.</a:t>
            </a:r>
            <a:endParaRPr lang="en-US" sz="1740" dirty="0"/>
          </a:p>
        </p:txBody>
      </p:sp>
      <p:pic>
        <p:nvPicPr>
          <p:cNvPr id="15" name="Image 4" descr="preencoded.png">
            <a:hlinkClick r:id="rId6" tooltip="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0"/>
            <a:ext cx="36576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3199" y="2427803"/>
            <a:ext cx="83896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60A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Conclusiones y Recomendaciones</a:t>
            </a:r>
            <a:endParaRPr lang="en-US" sz="4374" dirty="0"/>
          </a:p>
        </p:txBody>
      </p:sp>
      <p:sp>
        <p:nvSpPr>
          <p:cNvPr id="6" name="Shape 3"/>
          <p:cNvSpPr/>
          <p:nvPr/>
        </p:nvSpPr>
        <p:spPr>
          <a:xfrm>
            <a:off x="833199" y="3455432"/>
            <a:ext cx="4542115" cy="2346365"/>
          </a:xfrm>
          <a:prstGeom prst="roundRect">
            <a:avLst>
              <a:gd name="adj" fmla="val 5682"/>
            </a:avLst>
          </a:prstGeom>
          <a:solidFill>
            <a:srgbClr val="282C32"/>
          </a:solidFill>
          <a:ln/>
        </p:spPr>
      </p:sp>
      <p:sp>
        <p:nvSpPr>
          <p:cNvPr id="7" name="Text 4"/>
          <p:cNvSpPr/>
          <p:nvPr/>
        </p:nvSpPr>
        <p:spPr>
          <a:xfrm>
            <a:off x="1055370" y="3677603"/>
            <a:ext cx="222194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60A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Diversidad de Uso</a:t>
            </a:r>
            <a:endParaRPr lang="en-US" sz="2187" dirty="0"/>
          </a:p>
        </p:txBody>
      </p:sp>
      <p:sp>
        <p:nvSpPr>
          <p:cNvPr id="8" name="Text 5"/>
          <p:cNvSpPr/>
          <p:nvPr/>
        </p:nvSpPr>
        <p:spPr>
          <a:xfrm>
            <a:off x="1055370" y="4158020"/>
            <a:ext cx="4097774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elección del lenguaje dependerá del alcance del proyecto y los requisitos específicos de los microservicios.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597485" y="3455432"/>
            <a:ext cx="4542115" cy="2346365"/>
          </a:xfrm>
          <a:prstGeom prst="roundRect">
            <a:avLst>
              <a:gd name="adj" fmla="val 5682"/>
            </a:avLst>
          </a:prstGeom>
          <a:solidFill>
            <a:srgbClr val="282C32"/>
          </a:solidFill>
          <a:ln/>
        </p:spPr>
      </p:sp>
      <p:sp>
        <p:nvSpPr>
          <p:cNvPr id="10" name="Text 7"/>
          <p:cNvSpPr/>
          <p:nvPr/>
        </p:nvSpPr>
        <p:spPr>
          <a:xfrm>
            <a:off x="5819656" y="3677603"/>
            <a:ext cx="318516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60A9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Optimización de Recursos</a:t>
            </a:r>
            <a:endParaRPr lang="en-US" sz="2187" dirty="0"/>
          </a:p>
        </p:txBody>
      </p:sp>
      <p:sp>
        <p:nvSpPr>
          <p:cNvPr id="11" name="Text 8"/>
          <p:cNvSpPr/>
          <p:nvPr/>
        </p:nvSpPr>
        <p:spPr>
          <a:xfrm>
            <a:off x="5819656" y="4158020"/>
            <a:ext cx="4097774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Rust se destaca en proyectos que requieren un alto rendimiento y eficiencia en el uso de recursos.</a:t>
            </a:r>
            <a:endParaRPr lang="en-US" sz="1750" dirty="0"/>
          </a:p>
        </p:txBody>
      </p:sp>
      <p:pic>
        <p:nvPicPr>
          <p:cNvPr id="12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2024-01-30T01:38:15Z</dcterms:created>
  <dcterms:modified xsi:type="dcterms:W3CDTF">2024-01-30T01:38:15Z</dcterms:modified>
</cp:coreProperties>
</file>